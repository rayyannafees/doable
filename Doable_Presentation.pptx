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38CA"/>
                </a:solidFill>
                <a:latin typeface="Arial"/>
              </a:defRPr>
            </a:pPr>
            <a:r>
              <a:t>BMW Challenge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28700"/>
            <a:ext cx="1067379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F172A"/>
                </a:solidFill>
                <a:latin typeface="Arial"/>
              </a:defRPr>
            </a:pPr>
            <a:r>
              <a:t>Doable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00300"/>
            <a:ext cx="1067379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4748B"/>
                </a:solidFill>
                <a:latin typeface="Arial"/>
              </a:defRPr>
            </a:pPr>
            <a:r>
              <a:t>The AI Personal Productivity Agent.Redefining Task Management with Agentic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400800"/>
            <a:ext cx="10673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Doable Presentation | December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rial"/>
              </a:defRPr>
            </a:pPr>
            <a:r>
              <a:t>The Productivity Paradox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03020"/>
            <a:ext cx="10673791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668780"/>
            <a:ext cx="5108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4155"/>
                </a:solidFill>
                <a:latin typeface="Arial"/>
              </a:defRPr>
            </a:pPr>
            <a:r>
              <a:t>Drowning in tasks,starving for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217420"/>
            <a:ext cx="5108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Modern professionals juggle an average of 4+ isolated tools daily for task tracking and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2766060"/>
            <a:ext cx="5108295" cy="1371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The Pain Point:Context switching consumes up to 40% of productive time. Traditional tools are passive—they record, but don't assist.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668780"/>
            <a:ext cx="5108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200"/>
            </a:pPr>
            <a:r>
              <a:t>Overwhelming ComplexityManual conversion of messages into tasks creates high cognitive load.</a:t>
            </a:r>
          </a:p>
          <a:p>
            <a:pPr>
              <a:spcAft>
                <a:spcPts val="1400"/>
              </a:spcAft>
              <a:defRPr sz="2200"/>
            </a:pPr>
            <a:r>
              <a:t>Lack of "Why"Task lists are static and disconnected from personal goals or psychological motivators.</a:t>
            </a:r>
          </a:p>
          <a:p>
            <a:pPr>
              <a:spcAft>
                <a:spcPts val="1400"/>
              </a:spcAft>
              <a:defRPr sz="2200"/>
            </a:pPr>
            <a:r>
              <a:t>Static ToolsNo active reasoning or planning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rial"/>
              </a:defRPr>
            </a:pPr>
            <a:r>
              <a:t>Enter Doable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03020"/>
            <a:ext cx="10673791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rial"/>
              </a:defRPr>
            </a:pPr>
            <a:r>
              <a:t>Powered by Advanced NLP &amp;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03020"/>
            <a:ext cx="10673791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668780"/>
            <a:ext cx="340553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Natural Language Parsing</a:t>
            </a:r>
          </a:p>
          <a:p>
            <a:pPr>
              <a:defRPr sz="1600"/>
            </a:pPr>
            <a:r>
              <a:t>"Schedule a 2-hour coding session after lunch"</a:t>
            </a:r>
          </a:p>
          <a:p>
            <a:pPr>
              <a:defRPr sz="1600"/>
            </a:pPr>
            <a:r>
              <a:t>Auto-Action: Understands temporal context and user intent.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7362" y="1668780"/>
            <a:ext cx="340553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Smart Task Management</a:t>
            </a:r>
          </a:p>
          <a:p>
            <a:pPr>
              <a:defRPr sz="1600"/>
            </a:pPr>
            <a:r>
              <a:t>Automated Priority Ranking &amp; Effort Estimation.</a:t>
            </a:r>
          </a:p>
          <a:p>
            <a:pPr>
              <a:defRPr sz="1600"/>
            </a:pPr>
            <a:r>
              <a:t>Memory: Retains long-term context for recurring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5772" y="1668780"/>
            <a:ext cx="340553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Proactive Insights</a:t>
            </a:r>
          </a:p>
          <a:p>
            <a:pPr>
              <a:defRPr sz="1600"/>
            </a:pPr>
            <a:r>
              <a:t>Anticipates bottlenecks before they happen.</a:t>
            </a:r>
          </a:p>
          <a:p>
            <a:pPr>
              <a:defRPr sz="1600"/>
            </a:pPr>
            <a:r>
              <a:t>Guidance: Suggests breaks and workload rebalancing.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514600"/>
            <a:ext cx="1067379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F172A"/>
                </a:solidFill>
                <a:latin typeface="Arial"/>
              </a:defRPr>
            </a:pPr>
            <a:r>
              <a:t>A Modern, Dynamic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rial"/>
              </a:defRPr>
            </a:pPr>
            <a:r>
              <a:t>Built on Modern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03020"/>
            <a:ext cx="10673791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668780"/>
            <a:ext cx="5108295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Frontend &amp; AI</a:t>
            </a:r>
          </a:p>
          <a:p>
            <a:pPr>
              <a:defRPr sz="1600"/>
            </a:pPr>
            <a:r>
              <a:t>Frontend: Next.js 15 (App Router), React, TailwindCSS, Shadcn/UI.</a:t>
            </a:r>
          </a:p>
          <a:p>
            <a:pPr>
              <a:defRPr sz="1600"/>
            </a:pPr>
            <a:r>
              <a:t>AI Engine: Google Gemini 2.5 Flash (Multimodal).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50127" y="1668780"/>
            <a:ext cx="5108295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Backend &amp; Observability</a:t>
            </a:r>
          </a:p>
          <a:p>
            <a:pPr>
              <a:defRPr sz="1600"/>
            </a:pPr>
            <a:r>
              <a:t>Server: Model Context Protocol (MCP).</a:t>
            </a:r>
          </a:p>
          <a:p>
            <a:pPr>
              <a:defRPr sz="1600"/>
            </a:pPr>
            <a:r>
              <a:t>Frameworks: xmcp (TypeScript) &amp; agno (Python).</a:t>
            </a:r>
          </a:p>
          <a:p>
            <a:pPr>
              <a:defRPr sz="1600"/>
            </a:pPr>
            <a:r>
              <a:t>Tracing: Langfuse Integration with OpenTelemetry.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rial"/>
              </a:defRPr>
            </a:pPr>
            <a:r>
              <a:t>The Multimodal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03020"/>
            <a:ext cx="10673791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668780"/>
            <a:ext cx="340553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Director's Mode</a:t>
            </a:r>
          </a:p>
          <a:p>
            <a:pPr>
              <a:defRPr sz="1600"/>
            </a:pPr>
            <a:r>
              <a:t>Context-aware tone (e.g., "Firm" for deadlines, "Upbeat" for wins).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7362" y="1668780"/>
            <a:ext cx="340553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Meeting to Task</a:t>
            </a:r>
          </a:p>
          <a:p>
            <a:pPr>
              <a:defRPr sz="1600"/>
            </a:pPr>
            <a:r>
              <a:t>Upload audio → Extract action items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5772" y="1668780"/>
            <a:ext cx="340553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000" b="1">
                <a:solidFill>
                  <a:srgbClr val="334155"/>
                </a:solidFill>
              </a:defRPr>
            </a:pPr>
            <a:r>
              <a:t>Nuance Detection</a:t>
            </a:r>
          </a:p>
          <a:p>
            <a:pPr>
              <a:defRPr sz="1600"/>
            </a:pPr>
            <a:r>
              <a:t>Analyzes pitch/tone to detect user stress or fatigue.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rial"/>
              </a:defRPr>
            </a:pPr>
            <a:r>
              <a:t>The Path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03020"/>
            <a:ext cx="10673791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73352" y="1668780"/>
            <a:ext cx="9759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75569"/>
                </a:solidFill>
                <a:latin typeface="Arial"/>
              </a:defRPr>
            </a:pPr>
            <a:r>
              <a:t>Phase 1: Autonomous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2034540"/>
            <a:ext cx="9759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Expanding self-reflection cycles for higher task execution accuracy.</a:t>
            </a:r>
          </a:p>
        </p:txBody>
      </p:sp>
      <p:sp>
        <p:nvSpPr>
          <p:cNvPr id="6" name="Oval 5"/>
          <p:cNvSpPr/>
          <p:nvPr/>
        </p:nvSpPr>
        <p:spPr>
          <a:xfrm>
            <a:off x="758952" y="1760220"/>
            <a:ext cx="274320" cy="2743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73352" y="2766060"/>
            <a:ext cx="9759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75569"/>
                </a:solidFill>
                <a:latin typeface="Arial"/>
              </a:defRPr>
            </a:pPr>
            <a:r>
              <a:t>Phase 2: Predictive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3131820"/>
            <a:ext cx="9759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Using historical data to automate recurring task patterns and suggestion engines.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2857500"/>
            <a:ext cx="274320" cy="2743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2" y="3863340"/>
            <a:ext cx="9759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75569"/>
                </a:solidFill>
                <a:latin typeface="Arial"/>
              </a:defRPr>
            </a:pPr>
            <a:r>
              <a:t>Phase 3: Native Voice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4229100"/>
            <a:ext cx="97593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Full bidirectional, real-time voice conversations via Live API.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" y="3954780"/>
            <a:ext cx="274320" cy="2743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1500"/>
            <a:ext cx="106737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Arial"/>
              </a:defRPr>
            </a:pPr>
            <a:r>
              <a:t>Experience Doable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303020"/>
            <a:ext cx="10673791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514600"/>
            <a:ext cx="1067379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F172A"/>
                </a:solidFill>
                <a:latin typeface="Arial"/>
              </a:defRPr>
            </a:pPr>
            <a:r>
              <a:t>Make It Doable.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3886200"/>
            <a:ext cx="1067379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75569"/>
                </a:solidFill>
                <a:latin typeface="Arial"/>
              </a:defRPr>
            </a:pPr>
            <a:r>
              <a:t>Intelligent. Agentic. Psychologically-aware.Experience the future of work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